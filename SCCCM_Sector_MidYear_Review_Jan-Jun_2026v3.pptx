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annual target</c:v>
                </c:pt>
              </c:strCache>
            </c:strRef>
          </c:tx>
          <c:spPr>
            <a:solidFill>
              <a:srgbClr val="0072B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72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3F6-40A1-800C-D03AF4960B14}"/>
              </c:ext>
            </c:extLst>
          </c:dPt>
          <c:dPt>
            <c:idx val="1"/>
            <c:invertIfNegative val="0"/>
            <c:bubble3D val="0"/>
            <c:spPr>
              <a:solidFill>
                <a:srgbClr val="F26E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3F6-40A1-800C-D03AF4960B14}"/>
              </c:ext>
            </c:extLst>
          </c:dPt>
          <c:dPt>
            <c:idx val="2"/>
            <c:invertIfNegative val="0"/>
            <c:bubble3D val="0"/>
            <c:spPr>
              <a:solidFill>
                <a:srgbClr val="0072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3F6-40A1-800C-D03AF4960B14}"/>
              </c:ext>
            </c:extLst>
          </c:dPt>
          <c:dPt>
            <c:idx val="3"/>
            <c:invertIfNegative val="0"/>
            <c:bubble3D val="0"/>
            <c:spPr>
              <a:solidFill>
                <a:srgbClr val="F26E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3F6-40A1-800C-D03AF4960B14}"/>
              </c:ext>
            </c:extLst>
          </c:dPt>
          <c:dPt>
            <c:idx val="4"/>
            <c:invertIfNegative val="0"/>
            <c:bubble3D val="0"/>
            <c:spPr>
              <a:solidFill>
                <a:srgbClr val="F26E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3F6-40A1-800C-D03AF4960B14}"/>
              </c:ext>
            </c:extLst>
          </c:dPt>
          <c:dPt>
            <c:idx val="5"/>
            <c:invertIfNegative val="0"/>
            <c:bubble3D val="0"/>
            <c:spPr>
              <a:solidFill>
                <a:srgbClr val="F26E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3F6-40A1-800C-D03AF4960B14}"/>
              </c:ext>
            </c:extLst>
          </c:dPt>
          <c:dPt>
            <c:idx val="6"/>
            <c:invertIfNegative val="0"/>
            <c:bubble3D val="0"/>
            <c:spPr>
              <a:solidFill>
                <a:srgbClr val="0072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3F6-40A1-800C-D03AF4960B14}"/>
              </c:ext>
            </c:extLst>
          </c:dPt>
          <c:dPt>
            <c:idx val="7"/>
            <c:invertIfNegative val="0"/>
            <c:bubble3D val="0"/>
            <c:spPr>
              <a:solidFill>
                <a:srgbClr val="F26E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3F6-40A1-800C-D03AF4960B14}"/>
              </c:ext>
            </c:extLst>
          </c:dPt>
          <c:dPt>
            <c:idx val="8"/>
            <c:invertIfNegative val="0"/>
            <c:bubble3D val="0"/>
            <c:spPr>
              <a:solidFill>
                <a:srgbClr val="0072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3F6-40A1-800C-D03AF4960B14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395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Site coordination coverage</c:v>
                </c:pt>
                <c:pt idx="1">
                  <c:v>Shelter assistance - refugee HH</c:v>
                </c:pt>
                <c:pt idx="2">
                  <c:v>Energy / LPG support</c:v>
                </c:pt>
                <c:pt idx="3">
                  <c:v>NFI assistance</c:v>
                </c:pt>
                <c:pt idx="4">
                  <c:v>Emergency NFI and LPG</c:v>
                </c:pt>
                <c:pt idx="5">
                  <c:v>Emergency shelter</c:v>
                </c:pt>
                <c:pt idx="6">
                  <c:v>Complaints resolved - AAP</c:v>
                </c:pt>
                <c:pt idx="7">
                  <c:v>Community participation</c:v>
                </c:pt>
                <c:pt idx="8">
                  <c:v>Capacity sharing initiatives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40</c:v>
                </c:pt>
                <c:pt idx="2">
                  <c:v>53.5</c:v>
                </c:pt>
                <c:pt idx="3">
                  <c:v>35</c:v>
                </c:pt>
                <c:pt idx="4">
                  <c:v>10.7</c:v>
                </c:pt>
                <c:pt idx="5">
                  <c:v>17.899999999999999</c:v>
                </c:pt>
                <c:pt idx="6">
                  <c:v>51</c:v>
                </c:pt>
                <c:pt idx="7">
                  <c:v>41.6</c:v>
                </c:pt>
                <c:pt idx="8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3F6-40A1-800C-D03AF4960B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05E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1"/>
        <c:axPos val="b"/>
        <c:majorGridlines>
          <c:spPr>
            <a:ln w="12700" cap="flat">
              <a:solidFill>
                <a:srgbClr val="ECF2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Households reached</c:v>
                </c:pt>
              </c:strCache>
            </c:strRef>
          </c:tx>
          <c:spPr>
            <a:solidFill>
              <a:srgbClr val="0072B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678-45E8-A87D-EA9A8B14A8C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678-45E8-A87D-EA9A8B14A8C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678-45E8-A87D-EA9A8B14A8C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678-45E8-A87D-EA9A8B14A8CB}"/>
              </c:ext>
            </c:extLst>
          </c:dPt>
          <c:dPt>
            <c:idx val="4"/>
            <c:invertIfNegative val="0"/>
            <c:bubble3D val="0"/>
            <c:spPr>
              <a:solidFill>
                <a:srgbClr val="F26E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678-45E8-A87D-EA9A8B14A8CB}"/>
              </c:ext>
            </c:extLst>
          </c:dPt>
          <c:dPt>
            <c:idx val="5"/>
            <c:invertIfNegative val="0"/>
            <c:bubble3D val="0"/>
            <c:spPr>
              <a:solidFill>
                <a:srgbClr val="F26E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678-45E8-A87D-EA9A8B14A8C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395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72202</c:v>
                </c:pt>
                <c:pt idx="1">
                  <c:v>72559</c:v>
                </c:pt>
                <c:pt idx="2">
                  <c:v>68946</c:v>
                </c:pt>
                <c:pt idx="3">
                  <c:v>65559</c:v>
                </c:pt>
                <c:pt idx="4">
                  <c:v>53409</c:v>
                </c:pt>
                <c:pt idx="5">
                  <c:v>49184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678-45E8-A87D-EA9A8B14A8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5E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CF2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Households reached</c:v>
                </c:pt>
              </c:strCache>
            </c:strRef>
          </c:tx>
          <c:spPr>
            <a:solidFill>
              <a:srgbClr val="0072B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395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LPG</c:v>
                </c:pt>
                <c:pt idx="1">
                  <c:v>NFI</c:v>
                </c:pt>
                <c:pt idx="2">
                  <c:v>Shelter</c:v>
                </c:pt>
                <c:pt idx="3">
                  <c:v>DRM-SNFI</c:v>
                </c:pt>
                <c:pt idx="4">
                  <c:v>DRM-SM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148000</c:v>
                </c:pt>
                <c:pt idx="1">
                  <c:v>66519</c:v>
                </c:pt>
                <c:pt idx="2">
                  <c:v>61210</c:v>
                </c:pt>
                <c:pt idx="3">
                  <c:v>60600</c:v>
                </c:pt>
                <c:pt idx="4">
                  <c:v>45530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14-4F14-AF24-48169765B2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605E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ECF2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HH per 1,000 people</c:v>
                </c:pt>
              </c:strCache>
            </c:strRef>
          </c:tx>
          <c:spPr>
            <a:solidFill>
              <a:srgbClr val="F26E8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D46-4F9D-9BBF-63A4AE53CBE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D46-4F9D-9BBF-63A4AE53CBE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D46-4F9D-9BBF-63A4AE53CBE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D46-4F9D-9BBF-63A4AE53CBE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D46-4F9D-9BBF-63A4AE53CBE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D46-4F9D-9BBF-63A4AE53CBEE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AD46-4F9D-9BBF-63A4AE53CBEE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AD46-4F9D-9BBF-63A4AE53CBEE}"/>
              </c:ext>
            </c:extLst>
          </c:dPt>
          <c:dPt>
            <c:idx val="8"/>
            <c:invertIfNegative val="0"/>
            <c:bubble3D val="0"/>
            <c:spPr>
              <a:solidFill>
                <a:srgbClr val="0072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AD46-4F9D-9BBF-63A4AE53CBEE}"/>
              </c:ext>
            </c:extLst>
          </c:dPt>
          <c:dPt>
            <c:idx val="9"/>
            <c:invertIfNegative val="0"/>
            <c:bubble3D val="0"/>
            <c:spPr>
              <a:solidFill>
                <a:srgbClr val="0072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AD46-4F9D-9BBF-63A4AE53CBEE}"/>
              </c:ext>
            </c:extLst>
          </c:dPt>
          <c:dPt>
            <c:idx val="10"/>
            <c:invertIfNegative val="0"/>
            <c:bubble3D val="0"/>
            <c:spPr>
              <a:solidFill>
                <a:srgbClr val="0072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AD46-4F9D-9BBF-63A4AE53CBEE}"/>
              </c:ext>
            </c:extLst>
          </c:dPt>
          <c:dPt>
            <c:idx val="11"/>
            <c:invertIfNegative val="0"/>
            <c:bubble3D val="0"/>
            <c:spPr>
              <a:solidFill>
                <a:srgbClr val="0072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AD46-4F9D-9BBF-63A4AE53CBEE}"/>
              </c:ext>
            </c:extLst>
          </c:dPt>
          <c:dPt>
            <c:idx val="12"/>
            <c:invertIfNegative val="0"/>
            <c:bubble3D val="0"/>
            <c:spPr>
              <a:solidFill>
                <a:srgbClr val="0072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AD46-4F9D-9BBF-63A4AE53CBEE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395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Camp 20 Extension</c:v>
                </c:pt>
                <c:pt idx="1">
                  <c:v>Camp 25</c:v>
                </c:pt>
                <c:pt idx="2">
                  <c:v>Camp 4 Extension</c:v>
                </c:pt>
                <c:pt idx="3">
                  <c:v>Bhasan Char</c:v>
                </c:pt>
                <c:pt idx="4">
                  <c:v>Camp 21</c:v>
                </c:pt>
                <c:pt idx="5">
                  <c:v>Camp 27</c:v>
                </c:pt>
                <c:pt idx="6">
                  <c:v>Camp 24</c:v>
                </c:pt>
                <c:pt idx="7">
                  <c:v>Camp 13</c:v>
                </c:pt>
                <c:pt idx="8">
                  <c:v>Camp 16</c:v>
                </c:pt>
                <c:pt idx="9">
                  <c:v>Camp 7</c:v>
                </c:pt>
                <c:pt idx="10">
                  <c:v>Camp 15</c:v>
                </c:pt>
                <c:pt idx="11">
                  <c:v>Camp 12</c:v>
                </c:pt>
                <c:pt idx="12">
                  <c:v>Camp 8W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44.2</c:v>
                </c:pt>
                <c:pt idx="1">
                  <c:v>48.9</c:v>
                </c:pt>
                <c:pt idx="2">
                  <c:v>55.8</c:v>
                </c:pt>
                <c:pt idx="3">
                  <c:v>56.5</c:v>
                </c:pt>
                <c:pt idx="4">
                  <c:v>65.400000000000006</c:v>
                </c:pt>
                <c:pt idx="5">
                  <c:v>70.7</c:v>
                </c:pt>
                <c:pt idx="6">
                  <c:v>73.2</c:v>
                </c:pt>
                <c:pt idx="7">
                  <c:v>76.5</c:v>
                </c:pt>
                <c:pt idx="8">
                  <c:v>122.4</c:v>
                </c:pt>
                <c:pt idx="9">
                  <c:v>123.9</c:v>
                </c:pt>
                <c:pt idx="10">
                  <c:v>127.7</c:v>
                </c:pt>
                <c:pt idx="11">
                  <c:v>135.9</c:v>
                </c:pt>
                <c:pt idx="12">
                  <c:v>140.5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AD46-4F9D-9BBF-63A4AE53CB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05E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ECF2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Funding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2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75A-4B7E-857E-38CDE2904B9B}"/>
              </c:ext>
            </c:extLst>
          </c:dPt>
          <c:dPt>
            <c:idx val="1"/>
            <c:bubble3D val="0"/>
            <c:spPr>
              <a:solidFill>
                <a:srgbClr val="E4EC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75A-4B7E-857E-38CDE2904B9B}"/>
              </c:ext>
            </c:extLst>
          </c:dPt>
          <c:cat>
            <c:strRef>
              <c:f>Sheet1!$A$2:$A$3</c:f>
              <c:strCache>
                <c:ptCount val="2"/>
                <c:pt idx="0">
                  <c:v>Funded</c:v>
                </c:pt>
                <c:pt idx="1">
                  <c:v>Gap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75A-4B7E-857E-38CDE2904B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05E5C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Funding gap (USD million)</c:v>
                </c:pt>
              </c:strCache>
            </c:strRef>
          </c:tx>
          <c:spPr>
            <a:solidFill>
              <a:srgbClr val="F26E80"/>
            </a:solidFill>
            <a:effectLst/>
          </c:spPr>
          <c:invertIfNegative val="0"/>
          <c:dLbls>
            <c:numFmt formatCode="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395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Shelter</c:v>
                </c:pt>
                <c:pt idx="1">
                  <c:v>DRM</c:v>
                </c:pt>
                <c:pt idx="2">
                  <c:v>NFI</c:v>
                </c:pt>
                <c:pt idx="3">
                  <c:v>Access &amp; Safety</c:v>
                </c:pt>
                <c:pt idx="4">
                  <c:v>Slope stabilisation</c:v>
                </c:pt>
                <c:pt idx="5">
                  <c:v>LPG (to year end)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24.6</c:v>
                </c:pt>
                <c:pt idx="1">
                  <c:v>15.8</c:v>
                </c:pt>
                <c:pt idx="2">
                  <c:v>11.2</c:v>
                </c:pt>
                <c:pt idx="3">
                  <c:v>7.6</c:v>
                </c:pt>
                <c:pt idx="4">
                  <c:v>11.2</c:v>
                </c:pt>
                <c:pt idx="5">
                  <c:v>10.1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02-4E6F-AAB9-E8537630A6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605E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ECF2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target in place</c:v>
                </c:pt>
              </c:strCache>
            </c:strRef>
          </c:tx>
          <c:spPr>
            <a:solidFill>
              <a:srgbClr val="F26E8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D46-4646-809C-859C782D96D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D46-4646-809C-859C782D96D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46-4646-809C-859C782D96D6}"/>
              </c:ext>
            </c:extLst>
          </c:dPt>
          <c:dPt>
            <c:idx val="3"/>
            <c:invertIfNegative val="0"/>
            <c:bubble3D val="0"/>
            <c:spPr>
              <a:solidFill>
                <a:srgbClr val="0072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D46-4646-809C-859C782D96D6}"/>
              </c:ext>
            </c:extLst>
          </c:dPt>
          <c:dPt>
            <c:idx val="4"/>
            <c:invertIfNegative val="0"/>
            <c:bubble3D val="0"/>
            <c:spPr>
              <a:solidFill>
                <a:srgbClr val="0072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D46-4646-809C-859C782D96D6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395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Emergency NFI and LPG (OUT6c)</c:v>
                </c:pt>
                <c:pt idx="1">
                  <c:v>Emergency shelter (OUT6d)</c:v>
                </c:pt>
                <c:pt idx="2">
                  <c:v>Slope stabilisation (sq m)</c:v>
                </c:pt>
                <c:pt idx="3">
                  <c:v>Camps with fire response capacity</c:v>
                </c:pt>
                <c:pt idx="4">
                  <c:v>Camps with DRM first responders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18</c:v>
                </c:pt>
                <c:pt idx="2">
                  <c:v>10</c:v>
                </c:pt>
                <c:pt idx="3">
                  <c:v>91</c:v>
                </c:pt>
                <c:pt idx="4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D46-4646-809C-859C782D96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605E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1"/>
        <c:axPos val="b"/>
        <c:majorGridlines>
          <c:spPr>
            <a:ln w="12700" cap="flat">
              <a:solidFill>
                <a:srgbClr val="ECF2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0047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Mid-year review built from the consolidated SCCCM 5W dataset for January to June 2026, compared against the 2026 JRP log frame targets and the sector funding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50% pro-rata benchmark is the simplest fair test at mid-year. It is not a rule — seasonal activities legitimately deviate — but any indicator far from it needs an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 community delivery is zero in this dataset because it is reported under Location = Host Community, which is outside this extract. That is a reporting boundary, not necessarily zero delivery — it must be confirmed with partners.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Projection: six more months at the June rate gives roughly 61,210 + 6 x 49,184 household-activities, which for shelter alone lands near 70 per cent of the annual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common misreading of the 5W. Always present activity-group totals as activities delivered, not as unique households.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Per-capita normalisation is what makes this actionable. Raw household counts would simply rank camps by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standard 5W trap: monthly reporting of a camp-level status indicator double counts if summed. Always de-duplicate to distinct camps.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carried forward from the JRP 2026 funding analysis presented at the April sector meeting and updated to the 30 June reporting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reason the IM function sits in the meeting: neither dataset answers the question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Aligned to the SOP for Cyclone Emergency Preparedness and Response and the Multi-Hazard Response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limitations before someone else finds them is what protects the sector figure when it is quoted by RCP or a donor.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messages, in the order the evidence was presented.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decision names an owner and a date. A decision without both is a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1440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7FC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SHELTER / CCCM SECTOR  ·  COX’S BAZAR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1488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Mid-year performance and funding review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1546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– June 2026  ·  5W reporting from 34 camps  ·  prepared by Sector Information Management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3794760"/>
            <a:ext cx="1280160" cy="45720"/>
          </a:xfrm>
          <a:prstGeom prst="rect">
            <a:avLst/>
          </a:prstGeom>
          <a:solidFill>
            <a:srgbClr val="F26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41148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C7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agree where the sector is off track at mid-year, and what the sector decides to do about it before the monsoon peak.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glance — mid-year 2026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005840" cy="41148"/>
          </a:xfrm>
          <a:prstGeom prst="rect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the year is gone. Pro-rata, the sector should be at roughly 50% of every annual target.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SCCCM Sector  ·  Coordination Meeting  ·  Mid-year review, January–June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651760" cy="1572768"/>
          </a:xfrm>
          <a:prstGeom prst="rect">
            <a:avLst/>
          </a:prstGeom>
          <a:solidFill>
            <a:srgbClr val="F4F8FC"/>
          </a:solidFill>
          <a:ln w="9525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" y="1527048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1.25M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05740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covered by site coordination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51460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the annual target — full coverage maintained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651760" cy="1572768"/>
          </a:xfrm>
          <a:prstGeom prst="rect">
            <a:avLst/>
          </a:prstGeom>
          <a:solidFill>
            <a:srgbClr val="F4F8FC"/>
          </a:solidFill>
          <a:ln w="9525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502152" y="1527048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2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9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205740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USD 128M funding received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51460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74.2M gap at mid-year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2651760" cy="1572768"/>
          </a:xfrm>
          <a:prstGeom prst="rect">
            <a:avLst/>
          </a:prstGeom>
          <a:solidFill>
            <a:srgbClr val="F4F8FC"/>
          </a:solidFill>
          <a:ln w="9525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336792" y="1527048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2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336792" y="205740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Shelter households reached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336792" y="251460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61,210 of 153,025 — 10 points behind pro-rata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06840" y="1417320"/>
            <a:ext cx="2651760" cy="1572768"/>
          </a:xfrm>
          <a:prstGeom prst="rect">
            <a:avLst/>
          </a:prstGeom>
          <a:solidFill>
            <a:srgbClr val="F4F8FC"/>
          </a:solidFill>
          <a:ln w="9525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171432" y="1527048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2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900" dirty="0"/>
          </a:p>
        </p:txBody>
      </p:sp>
      <p:sp>
        <p:nvSpPr>
          <p:cNvPr id="20" name="Text 18"/>
          <p:cNvSpPr txBox="1"/>
          <p:nvPr/>
        </p:nvSpPr>
        <p:spPr>
          <a:xfrm>
            <a:off x="9171432" y="205740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NFI households reached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171432" y="251460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66,519 of 190,053 — 15 points behind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3101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dataset covers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3648456"/>
            <a:ext cx="548640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15,519 validated 5W records, January to June 2026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refugee camps including Bhasan Char — full geographic coverage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activity groups and 82 sub-activities from the 2026 JRP log frame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monthly by appealing and implementing partners; consolidated by Sector IM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33101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 compared against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3648456"/>
            <a:ext cx="53949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JRP log frame — annual targets by output indicator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RCP 2026 4W activity matrix — activity groups and priority levels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JRP 2026 funding analysis, updated to 30 June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Benchmark: 50% of the annual target at the six-month point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 against annual target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005840" cy="41148"/>
          </a:xfrm>
          <a:prstGeom prst="rect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of the 2026 JRP target delivered by 30 June. Anything below the 50% line is behind schedule.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SCCCM Sector  ·  Coordination Meeting  ·  Mid-year review, January–June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371600"/>
          <a:ext cx="77724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50392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this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1691640"/>
            <a:ext cx="320040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and coverage functions are at 100% — these are services to the whole population.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assistance is 10 to 15 points behind pro-rata.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emergency indicators — emergency shelter at 18% and emergency NFI/LPG at 11% — are the sharpest.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community shelter (target 9,591 HH) has no delivery reported at all.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5806440"/>
            <a:ext cx="11155680" cy="566928"/>
          </a:xfrm>
          <a:prstGeom prst="rect">
            <a:avLst/>
          </a:prstGeom>
          <a:solidFill>
            <a:srgbClr val="FFF4F5"/>
          </a:solidFill>
          <a:ln w="9525">
            <a:solidFill>
              <a:srgbClr val="F26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85800" y="587959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2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preparedness stocks are at 11–18% of target with the monsoon peak in July. This is the single most time-critical gap on this slide.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is slowing month on month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005840" cy="41148"/>
          </a:xfrm>
          <a:prstGeom prst="rect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Households reached per month across all activity groups, January to June 2026.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SCCCM Sector  ·  Coordination Meeting  ·  Mid-year review, January–June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417320"/>
          <a:ext cx="75895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366760" y="1417320"/>
            <a:ext cx="3291840" cy="1572768"/>
          </a:xfrm>
          <a:prstGeom prst="rect">
            <a:avLst/>
          </a:prstGeom>
          <a:solidFill>
            <a:srgbClr val="F4F8FC"/>
          </a:solidFill>
          <a:ln w="9525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531352" y="1527048"/>
            <a:ext cx="2962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2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-32%</a:t>
            </a:r>
            <a:endParaRPr lang="en-US" sz="2900" dirty="0"/>
          </a:p>
        </p:txBody>
      </p:sp>
      <p:sp>
        <p:nvSpPr>
          <p:cNvPr id="9" name="Text 6"/>
          <p:cNvSpPr txBox="1"/>
          <p:nvPr/>
        </p:nvSpPr>
        <p:spPr>
          <a:xfrm>
            <a:off x="8531352" y="20574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against January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531352" y="2514600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household delivery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366760" y="3154680"/>
            <a:ext cx="32918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fall begins in May, not June — it tracks funding availability, not the weather.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LPG delivery held steady; shelter and NFI carried almost all of the decline.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June run rate the sector lands near 70% of the shelter target, not 100%.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delivery sits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005840" cy="41148"/>
          </a:xfrm>
          <a:prstGeom prst="rect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Households reached by activity group, January to June 2026 (household-unit activities only).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SCCCM Sector  ·  Coordination Meeting  ·  Mid-year review, January–June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417320"/>
          <a:ext cx="72237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0010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unit problem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737360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five groups report in households. The other six report in metres, hectares, camps, sessions or cases.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"total reached" figure across the sector would mix all of them and mean nothing.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indicator is therefore reported in its own unit, exactly as the log frame defines 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FFF4F5"/>
          </a:solidFill>
          <a:ln w="9525">
            <a:solidFill>
              <a:srgbClr val="F26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85800" y="57424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2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Households are not de-duplicated across activity groups — one household receiving both NFI and LPG appears twice. Unique-household reach requires a separate calculation, not a sum of this chart.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geographic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005840" cy="41148"/>
          </a:xfrm>
          <a:prstGeom prst="rect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Shelter and NFI households reached per 1,000 people, January to June 2026 — eight lowest and five highest camps.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SCCCM Sector  ·  Coordination Meeting  ·  Mid-year review, January–June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371600"/>
          <a:ext cx="74980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371600"/>
            <a:ext cx="3429000" cy="1572768"/>
          </a:xfrm>
          <a:prstGeom prst="rect">
            <a:avLst/>
          </a:prstGeom>
          <a:solidFill>
            <a:srgbClr val="F4F8FC"/>
          </a:solidFill>
          <a:ln w="9525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394192" y="1481328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2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3.2×</a:t>
            </a:r>
            <a:endParaRPr lang="en-US" sz="2900" dirty="0"/>
          </a:p>
        </p:txBody>
      </p:sp>
      <p:sp>
        <p:nvSpPr>
          <p:cNvPr id="9" name="Text 6"/>
          <p:cNvSpPr txBox="1"/>
          <p:nvPr/>
        </p:nvSpPr>
        <p:spPr>
          <a:xfrm>
            <a:off x="8394192" y="201168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between camps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394192" y="2468880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Highest-served camp against lowest-served camp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3127248"/>
            <a:ext cx="342900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 20 Extension, Camp 25 and Camp 4 Extension are at under half the sector average.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Bhasan Char sits in the bottom four despite a population of 47,000.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 24 and Camp 13 are large camps in the bottom eight — this is not only a small-camp problem.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is controlled for: this is delivery per head, not raw volume.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camps are also missing emergency capacity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005840" cy="41148"/>
          </a:xfrm>
          <a:prstGeom prst="rect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Camps without the capacity in place as at 30 June 2026 — counted as distinct camps, not summed across months.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SCCCM Sector  ·  Coordination Meeting  ·  Mid-year review, January–June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1155680" cy="1051560"/>
          </a:xfrm>
          <a:prstGeom prst="rect">
            <a:avLst/>
          </a:prstGeom>
          <a:solidFill>
            <a:srgbClr val="F4F8FC"/>
          </a:solidFill>
          <a:ln w="9525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15910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DRM first responders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38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of 34 camps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0" y="1719072"/>
            <a:ext cx="5120640" cy="274320"/>
          </a:xfrm>
          <a:prstGeom prst="rect">
            <a:avLst/>
          </a:prstGeom>
          <a:solidFill>
            <a:srgbClr val="E4EC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20640" y="1719072"/>
            <a:ext cx="4216998" cy="274320"/>
          </a:xfrm>
          <a:prstGeom prst="rect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120640" y="206654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Missing: Bhasan Char, Camp 20 Extension, Camp 21, Camp 25, Camp 27, Camp 4 Extension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424160" y="16824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02920" y="2670048"/>
            <a:ext cx="11155680" cy="1051560"/>
          </a:xfrm>
          <a:prstGeom prst="rect">
            <a:avLst/>
          </a:prstGeom>
          <a:solidFill>
            <a:srgbClr val="F4F8FC"/>
          </a:solidFill>
          <a:ln w="9525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31520" y="27980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fire response capacity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1455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of 34 camps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0" y="2926080"/>
            <a:ext cx="5120640" cy="274320"/>
          </a:xfrm>
          <a:prstGeom prst="rect">
            <a:avLst/>
          </a:prstGeom>
          <a:solidFill>
            <a:srgbClr val="E4EC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120640" y="2926080"/>
            <a:ext cx="4668819" cy="274320"/>
          </a:xfrm>
          <a:prstGeom prst="rect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120640" y="32735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Missing: Bhasan Char, Camp 20 Extension, Camp 25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424160" y="28895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02920" y="3877056"/>
            <a:ext cx="11155680" cy="1051560"/>
          </a:xfrm>
          <a:prstGeom prst="rect">
            <a:avLst/>
          </a:prstGeom>
          <a:solidFill>
            <a:srgbClr val="F4F8FC"/>
          </a:solidFill>
          <a:ln w="9525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1520" y="4005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Functioning complaints mechanism (CFRM)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3525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of 34 camps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0" y="4133088"/>
            <a:ext cx="5120640" cy="274320"/>
          </a:xfrm>
          <a:prstGeom prst="rect">
            <a:avLst/>
          </a:prstGeom>
          <a:solidFill>
            <a:srgbClr val="E4EC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120640" y="4133088"/>
            <a:ext cx="4518212" cy="274320"/>
          </a:xfrm>
          <a:prstGeom prst="rect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120640" y="44805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Missing: Camp 20, Camp 20 Extension, Camp 25, Camp 4 Extension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0424160" y="40965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502920" y="5257800"/>
            <a:ext cx="11155680" cy="566928"/>
          </a:xfrm>
          <a:prstGeom prst="rect">
            <a:avLst/>
          </a:prstGeom>
          <a:solidFill>
            <a:srgbClr val="FFF4F5"/>
          </a:solidFill>
          <a:ln w="9525">
            <a:solidFill>
              <a:srgbClr val="F26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85800" y="533095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2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 20 Extension and Camp 25 appear on all three lists and in the bottom three for delivery. They are the sector’s clearest combined gap.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9436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note: capacity indicators are counted as distinct camps. Summing the monthly 5W rows would report 168 camps out of 34.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position — JRP 2026, as at 30 June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005840" cy="41148"/>
          </a:xfrm>
          <a:prstGeom prst="rect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128 million required for the sector. 42% received, leaving a gap of USD 74.2 million.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SCCCM Sector  ·  Coordination Meeting  ·  Mid-year review, January–June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371600"/>
          <a:ext cx="35661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234440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funded</a:t>
            </a:r>
            <a:endParaRPr lang="en-US" sz="12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114800" y="1371600"/>
          <a:ext cx="7589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0292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Priority-level position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5166360"/>
            <a:ext cx="5486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+ P2 combined gap USD 65.4M — P2 activities only 15.5% funded.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+ Reserve/Standby gap USD 9.2M; Reserve/Standby only 16.6% funded.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6172200" y="5166360"/>
            <a:ext cx="5486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management support: 6.3% funded (USD 280K) — the function delivering 100% coverage.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NFI replenishment 13.2% funded; stock covers needs only to the end of Q2.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delivery and funding disagree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005840" cy="41148"/>
          </a:xfrm>
          <a:prstGeom prst="rect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findings that only appear when the 5W and the funding data are read together.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SCCCM Sector  ·  Coordination Meeting  ·  Mid-year review, January–June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2377440"/>
          </a:xfrm>
          <a:prstGeom prst="rect">
            <a:avLst/>
          </a:prstGeom>
          <a:solidFill>
            <a:srgbClr val="F4F8FC"/>
          </a:solidFill>
          <a:ln w="15875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Delivering on almost no funding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11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coordination and site management support reports 100% population coverage while funded at 6.3% — USD 280,000 against a requirement of USD 4.4M.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0779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coverage today is being carried by partner cost-sharing, not by the appeal. It is the least visible risk in the portfolio and the fastest to collapse.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40680" cy="2377440"/>
          </a:xfrm>
          <a:prstGeom prst="rect">
            <a:avLst/>
          </a:prstGeom>
          <a:solidFill>
            <a:srgbClr val="FFF4F5"/>
          </a:solidFill>
          <a:ln w="15875">
            <a:solidFill>
              <a:srgbClr val="F26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92240" y="16276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2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Funded work not converting into delivery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011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 stabilisation: 43,208 sq m completed against 427,212 sq m identified — 10.1%, with a 63% funding gap and the monsoon peak in July.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90779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2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34,000 shelters and around 163,000 people sit in areas identified as high-risk and not yet stabilised.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023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 for prioritisation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370832"/>
            <a:ext cx="111556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figures alone would say the sector is performing. Funding figures alone would say it is failing. Neither is the whole picture.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sector should protect the two functions where a small amount of money holds up a large amount of coverage: site management support and emergency prepositioning.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funding exists but delivery lags — slope stabilisation — the constraint is implementation capacity and season, so re-tendering or reallocating before July is the live decision.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Monsoon and cyclone readiness — the time-critical gap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005840" cy="41148"/>
          </a:xfrm>
          <a:prstGeom prst="rect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preparedness indicators at the six-month point, against the July rainfall peak.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SCCCM Sector  ·  Coordination Meeting  ·  Mid-year review, January–June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417320"/>
          <a:ext cx="72237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046720" y="1417320"/>
            <a:ext cx="3611880" cy="1572768"/>
          </a:xfrm>
          <a:prstGeom prst="rect">
            <a:avLst/>
          </a:prstGeom>
          <a:solidFill>
            <a:srgbClr val="F4F8FC"/>
          </a:solidFill>
          <a:ln w="9525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211312" y="1527048"/>
            <a:ext cx="3282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2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34,000</a:t>
            </a:r>
            <a:endParaRPr lang="en-US" sz="2900" dirty="0"/>
          </a:p>
        </p:txBody>
      </p:sp>
      <p:sp>
        <p:nvSpPr>
          <p:cNvPr id="9" name="Text 6"/>
          <p:cNvSpPr txBox="1"/>
          <p:nvPr/>
        </p:nvSpPr>
        <p:spPr>
          <a:xfrm>
            <a:off x="8211312" y="2057400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Shelters in unstabilised high-risk areas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211312" y="2514600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approximately 163,000 people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3154680"/>
            <a:ext cx="36118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Prepositioned shelter and NFI kits cover a fraction of the caseload the multi-hazard plan assumes.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camps have no established fire response capacity, including Bhasan Char.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camps have no trained DRM first responders.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4937760"/>
            <a:ext cx="11155680" cy="566928"/>
          </a:xfrm>
          <a:prstGeom prst="rect">
            <a:avLst/>
          </a:prstGeom>
          <a:solidFill>
            <a:srgbClr val="FFF4F5"/>
          </a:solidFill>
          <a:ln w="9525">
            <a:solidFill>
              <a:srgbClr val="F26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85800" y="501091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2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cyclone or major fire occurs in July, the sector can coordinate the response but cannot currently supply it at the scale the contingency plan assumes.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dataset cannot yet tell us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005840" cy="41148"/>
          </a:xfrm>
          <a:prstGeom prst="rect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limitations that affect how these figures should be read, and what Sector IM is doing about each.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SCCCM Sector  ·  Coordination Meeting  ·  Mid-year review, January–June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45720" cy="960120"/>
          </a:xfrm>
          <a:prstGeom prst="rect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13232" y="1371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community delivery is invisible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3716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15,519 records are reported under Location = Refugee Camp. The host community shelter target of 9,591 households shows as zero. Confirming actual delivery with partners before the RCP submission.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487168"/>
            <a:ext cx="45720" cy="960120"/>
          </a:xfrm>
          <a:prstGeom prst="rect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13232" y="24871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Households are not de-duplicated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487168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household receiving NFI and LPG counts in both. Unique reach needs a household-level identifier the 5W does not carry; reported as activities delivered until then.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602736"/>
            <a:ext cx="45720" cy="960120"/>
          </a:xfrm>
          <a:prstGeom prst="rect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13232" y="360273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units in one column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3602736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Households, individuals, metres, hectares, camps and cases share the Reached column. Every figure here is reported in its own unit; a single sector total would be meaningless.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718304"/>
            <a:ext cx="45720" cy="960120"/>
          </a:xfrm>
          <a:prstGeom prst="rect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13232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Camp-status indicators repeat monthly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4718304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Counted as distinct camps, not summed. Summing gives 168 camps out of 34. Proposing a status-type flag in the template for the next cycle.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58521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these change the direction of the findings. They change how precisely each figure can be quoted outside this room.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005840" cy="41148"/>
          </a:xfrm>
          <a:prstGeom prst="rect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SCCCM Sector  ·  Coordination Meeting  ·  Mid-year review, January–June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16736"/>
            <a:ext cx="384048" cy="384048"/>
          </a:xfrm>
          <a:prstGeom prst="ellipse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134416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8016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is holding; assistance is not.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60934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coordination reaches 100% of the population, but shelter is at 40% and NFI at 35% of their annual targets at the halfway point.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304288"/>
            <a:ext cx="384048" cy="384048"/>
          </a:xfrm>
          <a:prstGeom prst="ellipse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233172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26771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slowdown started in May.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59689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household delivery has fallen 32% since January, tracking funding availability rather than season. At the June rate the sector lands near 70% of the shelter target.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384048" cy="384048"/>
          </a:xfrm>
          <a:prstGeom prst="ellipse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02920" y="33192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255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geographic and it compounds.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5844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3.2-fold spread between camps, and the six lowest-delivery camps are largely the same camps missing DRM first responders and a functioning CFRM.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279392"/>
            <a:ext cx="384048" cy="384048"/>
          </a:xfrm>
          <a:prstGeom prst="ellipse">
            <a:avLst/>
          </a:prstGeom>
          <a:solidFill>
            <a:srgbClr val="F26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02920" y="430682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24281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preparedness is the time-critical risk.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shelter at 18% and emergency NFI/LPG at 11% of target, slope stabilisation at 10%, with the rainfall peak in July.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5266944"/>
            <a:ext cx="384048" cy="384048"/>
          </a:xfrm>
          <a:prstGeom prst="ellipse">
            <a:avLst/>
          </a:prstGeom>
          <a:solidFill>
            <a:srgbClr val="F26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502920" y="52943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23036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amount of money holds up a large amount of coverage.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55595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management support is 6.3% funded and delivering full coverage. It is the cheapest thing to protect and the most expensive to lose.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requested from the sector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005840" cy="41148"/>
          </a:xfrm>
          <a:prstGeom prst="rect">
            <a:avLst/>
          </a:prstGeom>
          <a:solidFill>
            <a:srgbClr val="0072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decisions the Sector Coordinators and SAG are asked to take today.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SCCCM Sector  ·  Coordination Meeting  ·  Mid-year review, January–June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11155680" cy="896112"/>
          </a:xfrm>
          <a:prstGeom prst="rect">
            <a:avLst/>
          </a:prstGeom>
          <a:solidFill>
            <a:srgbClr val="F4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716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Reallocate shelter and NFI delivery towards the eight lowest-coverage camps for Q3, with Camp 20 Extension, Camp 25, Camp 4 Extension and Bhasan Char treated as priority.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6112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Shelter and NFI WGs, by 15 September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313432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forward emergency prepositioning before the July peak, and agree a minimum stock level per camp for shelter and NFI kits.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23591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SAG, this week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200400"/>
            <a:ext cx="11155680" cy="896112"/>
          </a:xfrm>
          <a:prstGeom prst="rect">
            <a:avLst/>
          </a:prstGeom>
          <a:solidFill>
            <a:srgbClr val="F4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85800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255264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host community delivery with partners and correct the reporting route before the RCP submission.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330098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IM with partners, by 10 September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197096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site management support funding to the SAG and RCP as a coverage risk, not an administrative one — 6.3% funded against 100% delivery.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42428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Coordinators, immediately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5084064"/>
            <a:ext cx="11155680" cy="896112"/>
          </a:xfrm>
          <a:prstGeom prst="rect">
            <a:avLst/>
          </a:prstGeom>
          <a:solidFill>
            <a:srgbClr val="F4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5800" y="5138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138928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the July–December delivery plan against the revised run rate, or formally revise the shelter and NFI targets in the log frame.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0" y="51846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SAG, by end September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Sector Information Management from the consolidated SCCCM 5W (January–June 2026), the 2026 JRP log frame, the RCP 2026 4W activity matrix and the JRP 2026 funding analysis.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2302</Words>
  <Application>Microsoft Office PowerPoint</Application>
  <PresentationFormat>Widescreen</PresentationFormat>
  <Paragraphs>189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SCCCM Sector - Mid-Year Performance and Funding Review, January-June 2026</dc:title>
  <dc:subject>PptxGenJS Presentation</dc:subject>
  <dc:creator>SCCCM Sector Information Management</dc:creator>
  <cp:lastModifiedBy>Mohammed Amimul Shakib</cp:lastModifiedBy>
  <cp:revision>1</cp:revision>
  <dcterms:created xsi:type="dcterms:W3CDTF">2026-08-31T15:17:38Z</dcterms:created>
  <dcterms:modified xsi:type="dcterms:W3CDTF">2026-09-01T09:41:49Z</dcterms:modified>
</cp:coreProperties>
</file>